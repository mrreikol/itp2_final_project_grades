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085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Grade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Programming 2 — Final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1920240" cy="640080"/>
          </a:xfrm>
          <a:prstGeom prst="rect">
            <a:avLst/>
          </a:prstGeom>
          <a:solidFill>
            <a:srgbClr val="2A3A82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3931920"/>
            <a:ext cx="1920240" cy="640080"/>
          </a:xfrm>
          <a:prstGeom prst="rect">
            <a:avLst/>
          </a:prstGeom>
          <a:solidFill>
            <a:srgbClr val="2A3A82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274320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3931920"/>
            <a:ext cx="1920240" cy="640080"/>
          </a:xfrm>
          <a:prstGeom prst="rect">
            <a:avLst/>
          </a:prstGeom>
          <a:solidFill>
            <a:srgbClr val="2A3A82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84632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Abylkair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3931920"/>
            <a:ext cx="1920240" cy="640080"/>
          </a:xfrm>
          <a:prstGeom prst="rect">
            <a:avLst/>
          </a:prstGeom>
          <a:solidFill>
            <a:srgbClr val="2A3A82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94944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The Challenge</a:t>
            </a:r>
            <a:endParaRPr lang="en-US" sz="18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Managing student grades manually is error-prone and time-consuming. Teachers need a reliable system to:</a:t>
            </a:r>
            <a:endParaRPr lang="en-US" sz="18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Track students across multiple courses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Assign and validate grades accurately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Calculate GPA using a standard scale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Generate reports and export data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Import data from CSV files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1005840"/>
            <a:ext cx="1828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5029200" y="1005840"/>
            <a:ext cx="1828800" cy="64008"/>
          </a:xfrm>
          <a:prstGeom prst="rect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029200" y="11155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Management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95160" y="1005840"/>
            <a:ext cx="1828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6995160" y="1005840"/>
            <a:ext cx="1828800" cy="64008"/>
          </a:xfrm>
          <a:prstGeom prst="rect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6995160" y="11155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9951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sample CSV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697480"/>
            <a:ext cx="1828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5029200" y="2697480"/>
            <a:ext cx="1828800" cy="64008"/>
          </a:xfrm>
          <a:prstGeom prst="rect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029200" y="28072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2920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776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2697480"/>
            <a:ext cx="1828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6995160" y="2697480"/>
            <a:ext cx="1828800" cy="64008"/>
          </a:xfrm>
          <a:prstGeom prst="rect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6995160" y="28072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99516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3776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06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User I/O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06040" cy="384048"/>
          </a:xfrm>
          <a:prstGeom prst="rect">
            <a:avLst/>
          </a:prstGeom>
          <a:solidFill>
            <a:srgbClr val="2D6FA3"/>
          </a:solidFill>
          <a:ln w="12700">
            <a:solidFill>
              <a:srgbClr val="2D6FA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20040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44475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· Student · Course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06040" cy="384048"/>
          </a:xfrm>
          <a:prstGeom prst="rect">
            <a:avLst/>
          </a:prstGeom>
          <a:solidFill>
            <a:srgbClr val="2D8A5E"/>
          </a:solidFill>
          <a:ln w="12700">
            <a:solidFill>
              <a:srgbClr val="2D8A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03504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144475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GradeManager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(core logic)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606040" cy="384048"/>
          </a:xfrm>
          <a:prstGeom prst="rect">
            <a:avLst/>
          </a:prstGeom>
          <a:solidFill>
            <a:srgbClr val="8A5E2D"/>
          </a:solidFill>
          <a:ln w="12700">
            <a:solidFill>
              <a:srgbClr val="8A5E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36499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FileHandler · Logger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606040" cy="384048"/>
          </a:xfrm>
          <a:prstGeom prst="rect">
            <a:avLst/>
          </a:prstGeom>
          <a:solidFill>
            <a:srgbClr val="7A2D8A"/>
          </a:solidFill>
          <a:ln w="12700">
            <a:solidFill>
              <a:srgbClr val="7A2D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200400" y="2926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36499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(unittest)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2606040" cy="384048"/>
          </a:xfrm>
          <a:prstGeom prst="rect">
            <a:avLst/>
          </a:prstGeom>
          <a:solidFill>
            <a:srgbClr val="5E2D8A"/>
          </a:solidFill>
          <a:ln w="12700">
            <a:solidFill>
              <a:srgbClr val="5E2D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6035040" y="2926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336499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 (output)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51560"/>
            <a:ext cx="256032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(base)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399032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person_id, name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get_id(), get_name()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short_info()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2240280"/>
            <a:ext cx="0" cy="411480"/>
          </a:xfrm>
          <a:prstGeom prst="line">
            <a:avLst/>
          </a:prstGeom>
          <a:noFill/>
          <a:ln w="254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2560320" cy="1417320"/>
          </a:xfrm>
          <a:prstGeom prst="rect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(extends Person)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999232"/>
            <a:ext cx="256032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__grades (dict)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add_grade(), get_grades()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average_grade()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calculate_gpa()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1051560"/>
            <a:ext cx="2560320" cy="1097280"/>
          </a:xfrm>
          <a:prstGeom prst="rect">
            <a:avLst/>
          </a:prstGeom>
          <a:solidFill>
            <a:srgbClr val="2D8A5E"/>
          </a:solidFill>
          <a:ln w="12700">
            <a:solidFill>
              <a:srgbClr val="2D8A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3931920" y="1051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39903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_name (validated)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get_name()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is_valid_name() — regex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2423160"/>
            <a:ext cx="2560320" cy="1645920"/>
          </a:xfrm>
          <a:prstGeom prst="rect">
            <a:avLst/>
          </a:prstGeom>
          <a:solidFill>
            <a:srgbClr val="8A5E2D"/>
          </a:solidFill>
          <a:ln w="12700">
            <a:solidFill>
              <a:srgbClr val="8A5E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3931920" y="2423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GradeManager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770632"/>
            <a:ext cx="25603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__students (dict)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__courses (dict)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assign_grade()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gpa_report_rows()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iter_students() → gen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8" name="Shape 16"/>
          <p:cNvSpPr/>
          <p:nvPr/>
        </p:nvSpPr>
        <p:spPr>
          <a:xfrm>
            <a:off x="6858000" y="1005840"/>
            <a:ext cx="54864" cy="1143000"/>
          </a:xfrm>
          <a:prstGeom prst="rect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699516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138988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extends Person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(super().__init__)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37744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Shape 20"/>
          <p:cNvSpPr/>
          <p:nvPr/>
        </p:nvSpPr>
        <p:spPr>
          <a:xfrm>
            <a:off x="6858000" y="2377440"/>
            <a:ext cx="54864" cy="1143000"/>
          </a:xfrm>
          <a:prstGeom prst="rect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699516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276148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__grades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getters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374904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Shape 24"/>
          <p:cNvSpPr/>
          <p:nvPr/>
        </p:nvSpPr>
        <p:spPr>
          <a:xfrm>
            <a:off x="6858000" y="3749040"/>
            <a:ext cx="54864" cy="1143000"/>
          </a:xfrm>
          <a:prstGeom prst="rect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699516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413308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short_info() overridden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Student class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for O(1) lookup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1380744"/>
            <a:ext cx="389534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21208" y="1380744"/>
            <a:ext cx="3803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__students = {}  # key: student_id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searching a list (O(n)), dictionary lookup by ID is O(1). Faster and cleaner.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89204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— iter_students()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64608" y="1380744"/>
            <a:ext cx="389534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910328" y="1380744"/>
            <a:ext cx="3803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student in self.__students.values():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student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9933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building a full list in memory. Students are processed one-by-one on demand.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502920" y="3063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filter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" y="3392424"/>
            <a:ext cx="389534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21208" y="3392424"/>
            <a:ext cx="3803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filter(lambda s: s.calculate_gpa() &gt;= min_gpa,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self.iter_students())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Functional-style filtering. Concise and readable without writing a manual loop.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892040" y="3063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— log_action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64608" y="3392424"/>
            <a:ext cx="389534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4910328" y="3392424"/>
            <a:ext cx="3803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@log_action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read_csv_rows(file_path): ...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40050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logs every file operation without modifying the functions themselves.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Student Grade Management System ---
</a:t>
            </a: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student
2. Add course
3. Assign grade
4. Calculate GPA
5. Generate reports
6. Import data from CSV
7. Save data to JSON
8. Show all students
9. Exit
</a:t>
            </a: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[LOG] Running: read_csv_rows
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rows: 40
CSV imported successfully.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846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389888"/>
            <a:ext cx="329184" cy="329184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285232" y="13898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Import students.csv (40 rows)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10912" y="1719072"/>
            <a:ext cx="0" cy="329184"/>
          </a:xfrm>
          <a:prstGeom prst="line">
            <a:avLst/>
          </a:prstGeom>
          <a:noFill/>
          <a:ln w="1905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4846320" y="2048256"/>
            <a:ext cx="329184" cy="329184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5285232" y="20482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Students stored as dict by 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10912" y="2377440"/>
            <a:ext cx="0" cy="329184"/>
          </a:xfrm>
          <a:prstGeom prst="line">
            <a:avLst/>
          </a:prstGeom>
          <a:noFill/>
          <a:ln w="1905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846320" y="2706624"/>
            <a:ext cx="329184" cy="329184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285232" y="270662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GPA calculated per student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10912" y="3035808"/>
            <a:ext cx="0" cy="329184"/>
          </a:xfrm>
          <a:prstGeom prst="line">
            <a:avLst/>
          </a:prstGeom>
          <a:noFill/>
          <a:ln w="1905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4846320" y="3364992"/>
            <a:ext cx="329184" cy="329184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285232" y="336499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Reports saved to reports/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10912" y="3694176"/>
            <a:ext cx="0" cy="329184"/>
          </a:xfrm>
          <a:prstGeom prst="line">
            <a:avLst/>
          </a:prstGeom>
          <a:noFill/>
          <a:ln w="1905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4846320" y="4023360"/>
            <a:ext cx="329184" cy="329184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5285232" y="40233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JSON export of all data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8092440" y="1097280"/>
            <a:ext cx="59436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8092440" y="10972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test_gpa_calculation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07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Math=90, Physics=80 → GPA 3.65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8092440" y="1874520"/>
            <a:ext cx="59436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8092440" y="18745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801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test_invalid_grade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120 raises ValueError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8092440" y="2651760"/>
            <a:ext cx="59436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8092440" y="26517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5786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test_manager_load_rows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8620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CSV rows → 2 students, 0 errors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8092440" y="3429000"/>
            <a:ext cx="59436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8092440" y="342900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355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test_students_above_gpa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393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students with GPA ≥ 3.5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8092440" y="4206240"/>
            <a:ext cx="59436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8092440" y="42062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1330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test_all_students_with_courses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4165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course list formatting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65960" cy="685800"/>
          </a:xfrm>
          <a:prstGeom prst="rect">
            <a:avLst/>
          </a:prstGeom>
          <a:solidFill>
            <a:srgbClr val="1E5FA3"/>
          </a:solidFill>
          <a:ln w="12700">
            <a:solidFill>
              <a:srgbClr val="1E5FA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20040" y="9966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344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Models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7647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base class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3591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29768" y="24505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with inheritance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30449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29768" y="31363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with regex validation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37307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29768" y="38221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&amp; polymorphism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96012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2468880" y="960120"/>
            <a:ext cx="1965960" cy="685800"/>
          </a:xfrm>
          <a:prstGeom prst="rect">
            <a:avLst/>
          </a:prstGeom>
          <a:solidFill>
            <a:srgbClr val="2D8A5E"/>
          </a:solidFill>
          <a:ln w="12700">
            <a:solidFill>
              <a:srgbClr val="2D8A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2468880" y="9966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1344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78608" y="17647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GradeManager service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78608" y="23591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2578608" y="24505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calculation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78608" y="30449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2578608" y="31363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iter_students()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78608" y="37307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2578608" y="38221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&amp; filter functions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96012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25"/>
          <p:cNvSpPr/>
          <p:nvPr/>
        </p:nvSpPr>
        <p:spPr>
          <a:xfrm>
            <a:off x="4617720" y="960120"/>
            <a:ext cx="1965960" cy="685800"/>
          </a:xfrm>
          <a:prstGeom prst="rect">
            <a:avLst/>
          </a:prstGeom>
          <a:solidFill>
            <a:srgbClr val="7A2D8A"/>
          </a:solidFill>
          <a:ln w="12700">
            <a:solidFill>
              <a:srgbClr val="7A2D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4617720" y="9966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Abylkair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17720" y="1344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 &amp; Tests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27448" y="17647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&amp; JSON file handler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27448" y="23591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4727448" y="24505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log_action decorator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27448" y="30449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4727448" y="31363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validators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27448" y="37307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4727448" y="38221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unit tests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66560" y="96012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8" name="Shape 36"/>
          <p:cNvSpPr/>
          <p:nvPr/>
        </p:nvSpPr>
        <p:spPr>
          <a:xfrm>
            <a:off x="6766560" y="960120"/>
            <a:ext cx="1965960" cy="685800"/>
          </a:xfrm>
          <a:prstGeom prst="rect">
            <a:avLst/>
          </a:prstGeom>
          <a:solidFill>
            <a:srgbClr val="8A5E2D"/>
          </a:solidFill>
          <a:ln w="12700">
            <a:solidFill>
              <a:srgbClr val="8A5E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7"/>
          <p:cNvSpPr/>
          <p:nvPr/>
        </p:nvSpPr>
        <p:spPr>
          <a:xfrm>
            <a:off x="6766560" y="9966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66560" y="1344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&amp; Docs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76288" y="17647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menu system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76288" y="23591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1"/>
          <p:cNvSpPr/>
          <p:nvPr/>
        </p:nvSpPr>
        <p:spPr>
          <a:xfrm>
            <a:off x="6876288" y="24505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CSV dataset (20 students)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76288" y="30449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3"/>
          <p:cNvSpPr/>
          <p:nvPr/>
        </p:nvSpPr>
        <p:spPr>
          <a:xfrm>
            <a:off x="6876288" y="31363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76288" y="3730752"/>
            <a:ext cx="173736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5"/>
          <p:cNvSpPr/>
          <p:nvPr/>
        </p:nvSpPr>
        <p:spPr>
          <a:xfrm>
            <a:off x="6876288" y="38221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56032" cy="256032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1024128" y="12070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OOP hierarchy with inheritance &amp; polymorphism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56032" cy="256032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1024128" y="17556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dictionary-based data storage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256032" cy="256032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1024128" y="23042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Generator, decorator, and lambda/filter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256032" cy="256032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1024128" y="28529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 + JSON export with error handling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256032" cy="256032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1024128" y="34015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passing unit tests covering edge cases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256032" cy="256032"/>
          </a:xfrm>
          <a:prstGeom prst="ellipse">
            <a:avLst/>
          </a:prstGeom>
          <a:solidFill>
            <a:srgbClr val="4A6FD4"/>
          </a:solidFill>
          <a:ln w="12700">
            <a:solidFill>
              <a:srgbClr val="4A6F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24128" y="3950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modular structure (models / services / utils)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722</Words>
  <Application>Microsoft Macintosh PowerPoint</Application>
  <PresentationFormat>Экран (16:9)</PresentationFormat>
  <Paragraphs>157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Grade Management System</dc:title>
  <dc:subject>PptxGenJS Presentation</dc:subject>
  <dc:creator>PptxGenJS</dc:creator>
  <cp:lastModifiedBy>Ismail Shargazin</cp:lastModifiedBy>
  <cp:revision>2</cp:revision>
  <cp:lastPrinted>2026-05-26T10:39:26Z</cp:lastPrinted>
  <dcterms:created xsi:type="dcterms:W3CDTF">2026-05-25T19:48:54Z</dcterms:created>
  <dcterms:modified xsi:type="dcterms:W3CDTF">2026-05-26T10:39:27Z</dcterms:modified>
</cp:coreProperties>
</file>